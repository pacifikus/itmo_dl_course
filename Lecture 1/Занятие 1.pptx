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85" r:id="rId4"/>
    <p:sldId id="287" r:id="rId5"/>
    <p:sldId id="288" r:id="rId6"/>
    <p:sldId id="289" r:id="rId7"/>
    <p:sldId id="297" r:id="rId8"/>
    <p:sldId id="296" r:id="rId9"/>
    <p:sldId id="298" r:id="rId10"/>
    <p:sldId id="29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ристина Желтова" initials="КЖ" lastIdx="1" clrIdx="0">
    <p:extLst>
      <p:ext uri="{19B8F6BF-5375-455C-9EA6-DF929625EA0E}">
        <p15:presenceInfo xmlns:p15="http://schemas.microsoft.com/office/powerpoint/2012/main" userId="e393ba5682dd51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824A0-EC7F-4813-A3E7-82F7E7F5E905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8B55A-CABE-4C0C-8FF5-83437BB90D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27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A3869-2954-8DE5-1173-EA6A36B51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9E1B0A-93EE-5098-4C31-1B428DA6A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953EDE-9EB5-6403-C13D-74E46AEEF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938530-CD4C-321A-2C6F-192A5DD1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50CA22-EC29-0938-80C4-A3982947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13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E3112-94BE-A1D4-CC93-EFD9CDBA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E149E3-6C1C-9EBB-FE4C-60C45DD6A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2761EA-2BB0-5E10-18F3-F184501E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F8D7B8-DCB8-6932-1BE0-BE8AECC2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A6181A-180F-39E2-3FA2-B436237EC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499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B67713-AAE8-A5F9-FEF5-E57A928D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E28430-0353-180D-4F84-78B5EF937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D9386B-52B9-E46A-674A-2BF01C72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89592F-F752-59D6-0341-C90AE76F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09F07D-4403-E811-7FDE-835D39A7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48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F62E2-5BB4-6C72-DD36-C106B086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C9EC6F-2B76-E6D0-86F6-4D7CCD21A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7644D1-C175-75DC-0146-FE2481941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87B0ED-D620-86A3-3AE8-379467966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3CE183-4E63-AA5E-AF10-CE11C1E0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9111AF-D48D-353F-7538-6967D43D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051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9932C3-1889-1E84-5CBE-A1F8238AA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B4B15E-D297-CDE8-66A5-A3FB2D479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9F4D7D-00C9-4ACA-0E6B-761DEAF4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574226-3B52-2DDA-B78D-64843B133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6948F68-1C70-E5DD-1BDB-0C90E4529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470FD9E-D77D-143D-B3E7-92DFDB8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FE4BAA2-C3C7-EB1C-7094-97761628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03B516-78C4-8E6E-2164-FA0D343F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88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ACE819-3AF1-4A66-9DCE-621CEC1C4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3321C4B-44A1-2F11-3BFB-6712C431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883F47-0BEC-C809-280A-71FB7319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018B8A-8C7E-FD44-C09C-263870C4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138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6148117-BD83-99F1-D098-195D1EC2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6B00001-66A6-277D-8321-927B57B5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20873E-F893-5F26-8246-A3DABB6A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7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30C5B8-2530-7CDE-E01B-230DD7EE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082F76-BF9E-7C65-FBCE-DD33CE550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F581E2-1EA4-27DD-CF27-587DEBAEA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656D4C-F27A-111C-B718-1DE58374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0DB45E-5F39-FECC-2BB3-6B944900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BD3CDF-DB79-906C-784A-9E7079C8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41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2F77A-0E3D-1FEE-7177-F2A075972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532353B-A509-695E-30F7-2C6C7805B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85F8F8-1F35-DCA1-3055-2F762FB17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30ABF2-FD6D-E699-7682-2AA189CC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1D22DC-E2A2-5AEE-782E-B88086B9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66FF9B-B57D-C6A5-2F32-51CB1F50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11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9781C-8C6D-6388-F200-142ECF284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0E2EC0-EF13-E5E5-AC5F-20E9BE768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31D4C0-514E-3C9C-B236-E30E178D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9F0851-5B49-7114-DE7D-07B0B49F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5ABB74-AE76-1AA4-B3AD-C3E4451C0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50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9AF5B72-580E-EAEB-1B65-0C9EB2568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79CD2E-CCA5-4665-4880-1CBBB0484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DED1DD-FB7A-2F9C-5B4D-BF4A408A9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47C08E-E78A-A31F-59AA-B902F8F9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E6C118-DEBB-ACEB-9C85-A8BFAEBD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572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6525A0-E06F-A804-ADBB-0EC2E18D7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657EDE-CD79-55B2-0D25-5C0101A7F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71659D-3967-57E1-D293-831530BA2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7071-E7D1-4F0D-90F4-41EE461A2EB9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511CFA-4BEE-B020-86B0-FB8ACCB92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D38E8E-41F4-034F-39C8-E9CE7B160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87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30171" y="1042033"/>
            <a:ext cx="10931658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u-RU" sz="4400" dirty="0"/>
              <a:t>Основы глубокого обучения</a:t>
            </a:r>
            <a:endParaRPr sz="44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u" dirty="0"/>
              <a:t>Занятие №1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Примерный план курса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227CA3-183F-00B6-12FC-E4188F773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954"/>
            <a:ext cx="10515600" cy="5329646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/>
              <a:t>Блок 1. Введение</a:t>
            </a:r>
            <a:endParaRPr lang="ru-RU" sz="1600" dirty="0"/>
          </a:p>
          <a:p>
            <a:pPr>
              <a:spcBef>
                <a:spcPts val="0"/>
              </a:spcBef>
            </a:pPr>
            <a:r>
              <a:rPr lang="ru-RU" sz="1600" dirty="0"/>
              <a:t>1.1 Введение в глубокое обучение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1.2 Метод обратного распространения ошибки, </a:t>
            </a:r>
            <a:r>
              <a:rPr lang="ru-RU" sz="1600" dirty="0" err="1"/>
              <a:t>полносвязные</a:t>
            </a:r>
            <a:r>
              <a:rPr lang="ru-RU" sz="1600" dirty="0"/>
              <a:t> нейронные сети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1.3 </a:t>
            </a:r>
            <a:r>
              <a:rPr lang="ru-RU" sz="1600" dirty="0" err="1"/>
              <a:t>PyTorch</a:t>
            </a:r>
            <a:r>
              <a:rPr lang="ru-RU" sz="1600" dirty="0"/>
              <a:t> </a:t>
            </a:r>
            <a:r>
              <a:rPr lang="ru-RU" sz="1600" dirty="0" err="1"/>
              <a:t>basics</a:t>
            </a:r>
            <a:r>
              <a:rPr lang="ru-RU" sz="1600" dirty="0"/>
              <a:t>. Автоматическое дифференцирование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1.4 Основные концепции обучения НС: функции потерь, функции активации, </a:t>
            </a:r>
            <a:r>
              <a:rPr lang="ru-RU" sz="1600" dirty="0" err="1"/>
              <a:t>Dropout</a:t>
            </a:r>
            <a:r>
              <a:rPr lang="ru-RU" sz="1600" dirty="0"/>
              <a:t>, </a:t>
            </a:r>
            <a:r>
              <a:rPr lang="ru-RU" sz="1600" dirty="0" err="1"/>
              <a:t>Batch</a:t>
            </a:r>
            <a:r>
              <a:rPr lang="ru-RU" sz="1600" dirty="0"/>
              <a:t> </a:t>
            </a:r>
            <a:r>
              <a:rPr lang="ru-RU" sz="1600" dirty="0" err="1"/>
              <a:t>Normalization</a:t>
            </a:r>
            <a:r>
              <a:rPr lang="ru-RU" sz="1600" dirty="0"/>
              <a:t>, инициализация весов, оптимизаторы, </a:t>
            </a:r>
            <a:r>
              <a:rPr lang="ru-RU" sz="1600" dirty="0" err="1"/>
              <a:t>early</a:t>
            </a:r>
            <a:r>
              <a:rPr lang="ru-RU" sz="1600" dirty="0"/>
              <a:t> </a:t>
            </a:r>
            <a:r>
              <a:rPr lang="ru-RU" sz="1600" dirty="0" err="1"/>
              <a:t>stopping</a:t>
            </a:r>
            <a:r>
              <a:rPr lang="ru-RU" sz="1600" dirty="0"/>
              <a:t>, регуляризация…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1.5 Практики эффективного обучения в </a:t>
            </a:r>
            <a:r>
              <a:rPr lang="ru-RU" sz="1600" dirty="0" err="1"/>
              <a:t>PyTorch</a:t>
            </a:r>
            <a:r>
              <a:rPr lang="ru-RU" sz="1600" dirty="0"/>
              <a:t>: </a:t>
            </a:r>
            <a:r>
              <a:rPr lang="ru-RU" sz="1600" dirty="0" err="1"/>
              <a:t>torch.compile</a:t>
            </a:r>
            <a:r>
              <a:rPr lang="ru-RU" sz="1600" dirty="0"/>
              <a:t>, профилирование, AMP…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1.6 </a:t>
            </a:r>
            <a:r>
              <a:rPr lang="en-US" sz="1600" dirty="0" err="1"/>
              <a:t>Pytorch</a:t>
            </a:r>
            <a:r>
              <a:rPr lang="en-US" sz="1600" dirty="0"/>
              <a:t> Lightning basics</a:t>
            </a:r>
            <a:br>
              <a:rPr lang="ru-RU" sz="1600" dirty="0"/>
            </a:b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600" b="1" dirty="0"/>
              <a:t>Блок 2. Нейронные сети для анализа изображений</a:t>
            </a:r>
            <a:endParaRPr lang="ru-RU" sz="1600" dirty="0"/>
          </a:p>
          <a:p>
            <a:pPr>
              <a:spcBef>
                <a:spcPts val="0"/>
              </a:spcBef>
            </a:pPr>
            <a:r>
              <a:rPr lang="ru-RU" sz="1600" dirty="0"/>
              <a:t>2.1 Введение в </a:t>
            </a:r>
            <a:r>
              <a:rPr lang="ru-RU" sz="1600" dirty="0" err="1"/>
              <a:t>сверточные</a:t>
            </a:r>
            <a:r>
              <a:rPr lang="ru-RU" sz="1600" dirty="0"/>
              <a:t> нейронные сети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2.2 Основные архитектуры </a:t>
            </a:r>
            <a:r>
              <a:rPr lang="ru-RU" sz="1600" dirty="0" err="1"/>
              <a:t>свёрточных</a:t>
            </a:r>
            <a:r>
              <a:rPr lang="ru-RU" sz="1600" dirty="0"/>
              <a:t> нейронных сетей</a:t>
            </a:r>
            <a:br>
              <a:rPr lang="ru-RU" sz="1600" dirty="0"/>
            </a:b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600" b="1" dirty="0"/>
              <a:t>Блок 3. Нейронные сети для анализа текстов</a:t>
            </a:r>
            <a:endParaRPr lang="ru-RU" sz="1600" dirty="0"/>
          </a:p>
          <a:p>
            <a:pPr>
              <a:spcBef>
                <a:spcPts val="0"/>
              </a:spcBef>
            </a:pPr>
            <a:r>
              <a:rPr lang="ru-RU" sz="1600" dirty="0"/>
              <a:t>3.1 Old, </a:t>
            </a:r>
            <a:r>
              <a:rPr lang="ru-RU" sz="1600" dirty="0" err="1"/>
              <a:t>but</a:t>
            </a:r>
            <a:r>
              <a:rPr lang="ru-RU" sz="1600" dirty="0"/>
              <a:t> </a:t>
            </a:r>
            <a:r>
              <a:rPr lang="ru-RU" sz="1600" dirty="0" err="1"/>
              <a:t>gold</a:t>
            </a:r>
            <a:r>
              <a:rPr lang="ru-RU" sz="1600" dirty="0"/>
              <a:t>: CNN для анализа текстовых данных, Word2Vec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3.2 Введение в рекуррентные нейронные сети</a:t>
            </a:r>
            <a:br>
              <a:rPr lang="ru-RU" sz="1600" dirty="0"/>
            </a:b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600" b="1" dirty="0"/>
              <a:t>Блок 4. Архитектура трансформера</a:t>
            </a:r>
            <a:endParaRPr lang="ru-RU" sz="1600" dirty="0"/>
          </a:p>
          <a:p>
            <a:pPr>
              <a:spcBef>
                <a:spcPts val="0"/>
              </a:spcBef>
            </a:pPr>
            <a:r>
              <a:rPr lang="ru-RU" sz="1600" dirty="0"/>
              <a:t>4.1 Архитектура трансформера - разбор статьи </a:t>
            </a:r>
            <a:r>
              <a:rPr lang="en-US" sz="1600" dirty="0"/>
              <a:t>Attention is all you need, </a:t>
            </a:r>
            <a:r>
              <a:rPr lang="ru-RU" sz="1600" dirty="0"/>
              <a:t>избранные модели </a:t>
            </a:r>
            <a:r>
              <a:rPr lang="en-US" sz="1600" dirty="0"/>
              <a:t>NLP</a:t>
            </a:r>
            <a:endParaRPr lang="ru-RU" sz="1600" dirty="0"/>
          </a:p>
          <a:p>
            <a:pPr>
              <a:spcBef>
                <a:spcPts val="0"/>
              </a:spcBef>
            </a:pPr>
            <a:r>
              <a:rPr lang="ru-RU" sz="1600" dirty="0"/>
              <a:t>4.2 Трансформеры в не-NLP задачах</a:t>
            </a:r>
            <a:br>
              <a:rPr lang="ru-RU" sz="1600" dirty="0"/>
            </a:b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600" b="1" dirty="0"/>
              <a:t>Блок 5. Ускорение нейросетей - основы</a:t>
            </a:r>
            <a:endParaRPr lang="ru-RU" sz="1600" dirty="0"/>
          </a:p>
          <a:p>
            <a:pPr>
              <a:spcBef>
                <a:spcPts val="0"/>
              </a:spcBef>
            </a:pPr>
            <a:r>
              <a:rPr lang="ru-RU" sz="1600" dirty="0"/>
              <a:t>5.1 Дистилляция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5.2 Квантование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5.3 </a:t>
            </a:r>
            <a:r>
              <a:rPr lang="ru-RU" sz="1600" dirty="0" err="1"/>
              <a:t>Прунинг</a:t>
            </a:r>
            <a:br>
              <a:rPr lang="ru-RU" sz="1600" dirty="0"/>
            </a:b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600" b="1" dirty="0"/>
              <a:t>Блок 6. Дополнительные главы</a:t>
            </a:r>
            <a:endParaRPr lang="ru-RU" sz="1600" dirty="0"/>
          </a:p>
          <a:p>
            <a:pPr>
              <a:spcBef>
                <a:spcPts val="0"/>
              </a:spcBef>
            </a:pPr>
            <a:r>
              <a:rPr lang="ru-RU" sz="1600" dirty="0"/>
              <a:t>6.1 Аугментация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6.2 Методы анализа и интерпретации нейронных сетей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6.3 </a:t>
            </a:r>
            <a:r>
              <a:rPr lang="ru-RU" sz="1600" dirty="0" err="1"/>
              <a:t>Metric</a:t>
            </a:r>
            <a:r>
              <a:rPr lang="ru-RU" sz="1600" dirty="0"/>
              <a:t> Learning</a:t>
            </a:r>
          </a:p>
          <a:p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233619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закрыть курс?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2212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5</a:t>
            </a:r>
            <a:r>
              <a:rPr lang="ru-RU" dirty="0"/>
              <a:t> домашних заданий </a:t>
            </a:r>
            <a:r>
              <a:rPr lang="en-US" dirty="0"/>
              <a:t>–</a:t>
            </a:r>
            <a:r>
              <a:rPr lang="ru-RU" dirty="0"/>
              <a:t> </a:t>
            </a:r>
            <a:r>
              <a:rPr lang="en-US" dirty="0"/>
              <a:t>5</a:t>
            </a:r>
            <a:r>
              <a:rPr lang="ru-RU" dirty="0"/>
              <a:t>*</a:t>
            </a:r>
            <a:r>
              <a:rPr lang="en-US" dirty="0"/>
              <a:t>1</a:t>
            </a:r>
            <a:r>
              <a:rPr lang="ru-RU" dirty="0"/>
              <a:t>0=</a:t>
            </a:r>
            <a:r>
              <a:rPr lang="en-US" dirty="0"/>
              <a:t>5</a:t>
            </a:r>
            <a:r>
              <a:rPr lang="ru-RU" dirty="0"/>
              <a:t>0 баллов</a:t>
            </a:r>
          </a:p>
          <a:p>
            <a:r>
              <a:rPr lang="ru-RU" dirty="0"/>
              <a:t>Финальное </a:t>
            </a:r>
            <a:r>
              <a:rPr lang="en-US" dirty="0"/>
              <a:t>Kaggle</a:t>
            </a:r>
            <a:r>
              <a:rPr lang="ru-RU" dirty="0"/>
              <a:t>-соревнование (</a:t>
            </a:r>
            <a:r>
              <a:rPr lang="en-US" dirty="0"/>
              <a:t>CV/NLP/…</a:t>
            </a:r>
            <a:r>
              <a:rPr lang="ru-RU" dirty="0"/>
              <a:t>) – 50 баллов:</a:t>
            </a:r>
          </a:p>
          <a:p>
            <a:pPr lvl="1"/>
            <a:r>
              <a:rPr lang="ru-RU" dirty="0"/>
              <a:t>Позиция на </a:t>
            </a:r>
            <a:r>
              <a:rPr lang="ru-RU" dirty="0" err="1"/>
              <a:t>лидерборде</a:t>
            </a:r>
            <a:r>
              <a:rPr lang="ru-RU" dirty="0"/>
              <a:t> - 20 баллов</a:t>
            </a:r>
          </a:p>
          <a:p>
            <a:pPr lvl="1"/>
            <a:r>
              <a:rPr lang="ru-RU" dirty="0"/>
              <a:t>Код реализации и </a:t>
            </a:r>
            <a:r>
              <a:rPr lang="ru-RU" dirty="0" err="1"/>
              <a:t>пайплайн</a:t>
            </a:r>
            <a:r>
              <a:rPr lang="ru-RU" dirty="0"/>
              <a:t> экспериментов - 30 баллов.</a:t>
            </a:r>
          </a:p>
          <a:p>
            <a:endParaRPr lang="ru-RU" dirty="0"/>
          </a:p>
          <a:p>
            <a:r>
              <a:rPr lang="ru-RU" dirty="0"/>
              <a:t>5 - [80; 100]</a:t>
            </a:r>
          </a:p>
          <a:p>
            <a:r>
              <a:rPr lang="ru-RU" dirty="0"/>
              <a:t>4 - [60; 79]</a:t>
            </a:r>
          </a:p>
          <a:p>
            <a:r>
              <a:rPr lang="ru-RU" dirty="0"/>
              <a:t>3 - [40; 59]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Добрать баллы на ПА </a:t>
            </a:r>
            <a:r>
              <a:rPr lang="en-US" dirty="0"/>
              <a:t>–</a:t>
            </a:r>
            <a:r>
              <a:rPr lang="ru-RU" dirty="0"/>
              <a:t> можно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045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сдавать ДЗ?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0658" cy="4351338"/>
          </a:xfrm>
        </p:spPr>
        <p:txBody>
          <a:bodyPr>
            <a:normAutofit/>
          </a:bodyPr>
          <a:lstStyle/>
          <a:p>
            <a:r>
              <a:rPr lang="ru-RU" dirty="0"/>
              <a:t>Создать приватный репозиторий на </a:t>
            </a:r>
            <a:r>
              <a:rPr lang="en-US" dirty="0"/>
              <a:t>GitHub</a:t>
            </a:r>
          </a:p>
          <a:p>
            <a:r>
              <a:rPr lang="ru-RU" dirty="0"/>
              <a:t>Дать доступ </a:t>
            </a:r>
            <a:r>
              <a:rPr lang="en-US" dirty="0">
                <a:solidFill>
                  <a:srgbClr val="FF0000"/>
                </a:solidFill>
              </a:rPr>
              <a:t>@pacifikus </a:t>
            </a:r>
            <a:r>
              <a:rPr lang="ru-RU" dirty="0"/>
              <a:t>и </a:t>
            </a:r>
            <a:r>
              <a:rPr lang="ru-RU" dirty="0">
                <a:solidFill>
                  <a:srgbClr val="FF0000"/>
                </a:solidFill>
              </a:rPr>
              <a:t>своему ментору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ru-RU" dirty="0"/>
              <a:t>Каждая домашняя работа –</a:t>
            </a:r>
            <a:r>
              <a:rPr lang="en-US" dirty="0"/>
              <a:t> PR </a:t>
            </a:r>
            <a:r>
              <a:rPr lang="ru-RU" dirty="0"/>
              <a:t>в отдельную ветку </a:t>
            </a:r>
            <a:r>
              <a:rPr lang="en-US" dirty="0" err="1"/>
              <a:t>hw_n</a:t>
            </a:r>
            <a:endParaRPr lang="en-US" dirty="0"/>
          </a:p>
          <a:p>
            <a:r>
              <a:rPr lang="ru-RU" dirty="0"/>
              <a:t>Добавить </a:t>
            </a:r>
            <a:r>
              <a:rPr lang="en-US" dirty="0">
                <a:solidFill>
                  <a:srgbClr val="FF0000"/>
                </a:solidFill>
              </a:rPr>
              <a:t>@pacifikus </a:t>
            </a:r>
            <a:r>
              <a:rPr lang="ru-RU" dirty="0"/>
              <a:t>и</a:t>
            </a:r>
            <a:r>
              <a:rPr lang="ru-RU" dirty="0">
                <a:solidFill>
                  <a:srgbClr val="FF0000"/>
                </a:solidFill>
              </a:rPr>
              <a:t> своего ментора </a:t>
            </a:r>
            <a:r>
              <a:rPr lang="ru-RU" dirty="0"/>
              <a:t>в </a:t>
            </a:r>
            <a:r>
              <a:rPr lang="en-US" dirty="0"/>
              <a:t>reviewers</a:t>
            </a:r>
            <a:endParaRPr lang="ru-RU" dirty="0"/>
          </a:p>
          <a:p>
            <a:r>
              <a:rPr lang="ru-RU" dirty="0"/>
              <a:t>Дождаться ревью, если все </a:t>
            </a:r>
            <a:r>
              <a:rPr lang="ru-RU" dirty="0" err="1"/>
              <a:t>ок</a:t>
            </a:r>
            <a:r>
              <a:rPr lang="ru-RU" dirty="0"/>
              <a:t> – </a:t>
            </a:r>
            <a:r>
              <a:rPr lang="ru-RU" dirty="0" err="1"/>
              <a:t>мержим</a:t>
            </a:r>
            <a:r>
              <a:rPr lang="ru-RU" dirty="0"/>
              <a:t> в </a:t>
            </a:r>
            <a:r>
              <a:rPr lang="en-US" dirty="0"/>
              <a:t>main</a:t>
            </a:r>
            <a:endParaRPr lang="ru-RU" dirty="0"/>
          </a:p>
          <a:p>
            <a:r>
              <a:rPr lang="ru-RU" dirty="0"/>
              <a:t>Если не </a:t>
            </a:r>
            <a:r>
              <a:rPr lang="ru-RU" dirty="0" err="1"/>
              <a:t>ок</a:t>
            </a:r>
            <a:r>
              <a:rPr lang="ru-RU" dirty="0"/>
              <a:t> – вносим исправления и снова отправляем на ревью</a:t>
            </a:r>
            <a:endParaRPr lang="en-US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7599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открытия </a:t>
            </a:r>
            <a:r>
              <a:rPr lang="en-US" dirty="0"/>
              <a:t>PR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0B0CAC3-374D-F577-35F2-CDA692858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9080" y="1869168"/>
            <a:ext cx="6733839" cy="4351338"/>
          </a:xfrm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0410AAA7-FD48-C51A-BBB3-80390EA7E58A}"/>
              </a:ext>
            </a:extLst>
          </p:cNvPr>
          <p:cNvCxnSpPr>
            <a:cxnSpLocks/>
          </p:cNvCxnSpPr>
          <p:nvPr/>
        </p:nvCxnSpPr>
        <p:spPr>
          <a:xfrm flipV="1">
            <a:off x="2107474" y="2786743"/>
            <a:ext cx="1166949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D9D221-DA99-8861-159A-B997B22741C2}"/>
              </a:ext>
            </a:extLst>
          </p:cNvPr>
          <p:cNvSpPr txBox="1"/>
          <p:nvPr/>
        </p:nvSpPr>
        <p:spPr>
          <a:xfrm>
            <a:off x="757645" y="3100252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Название </a:t>
            </a:r>
            <a:r>
              <a:rPr lang="en-US" dirty="0"/>
              <a:t>PR</a:t>
            </a:r>
            <a:endParaRPr lang="ru-RU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5919DDF-33EF-D4EA-DACB-0A9108FB01D2}"/>
              </a:ext>
            </a:extLst>
          </p:cNvPr>
          <p:cNvCxnSpPr/>
          <p:nvPr/>
        </p:nvCxnSpPr>
        <p:spPr>
          <a:xfrm flipH="1" flipV="1">
            <a:off x="9265920" y="3248297"/>
            <a:ext cx="818605" cy="3831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05070B-7610-485A-CBFE-5BD03F2CF311}"/>
              </a:ext>
            </a:extLst>
          </p:cNvPr>
          <p:cNvSpPr txBox="1"/>
          <p:nvPr/>
        </p:nvSpPr>
        <p:spPr>
          <a:xfrm>
            <a:off x="10084525" y="3544388"/>
            <a:ext cx="1280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Добавляем </a:t>
            </a:r>
            <a:r>
              <a:rPr lang="ru-RU" dirty="0" err="1"/>
              <a:t>ревьювера</a:t>
            </a:r>
            <a:endParaRPr lang="ru-RU" dirty="0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AC92C95A-7850-F4DA-FEBF-2B2029F6CCC0}"/>
              </a:ext>
            </a:extLst>
          </p:cNvPr>
          <p:cNvCxnSpPr/>
          <p:nvPr/>
        </p:nvCxnSpPr>
        <p:spPr>
          <a:xfrm flipV="1">
            <a:off x="2020389" y="3544388"/>
            <a:ext cx="1254034" cy="6463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62754DC-890E-77E2-2A38-456B288D22DC}"/>
              </a:ext>
            </a:extLst>
          </p:cNvPr>
          <p:cNvSpPr txBox="1"/>
          <p:nvPr/>
        </p:nvSpPr>
        <p:spPr>
          <a:xfrm>
            <a:off x="261257" y="4246054"/>
            <a:ext cx="2808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Комментарии по желанию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4F63D4-9B4A-4126-D80D-17D9D4DB38BE}"/>
              </a:ext>
            </a:extLst>
          </p:cNvPr>
          <p:cNvSpPr txBox="1"/>
          <p:nvPr/>
        </p:nvSpPr>
        <p:spPr>
          <a:xfrm>
            <a:off x="3274423" y="64277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b="1" dirty="0"/>
              <a:t>Нужен ли более подробный разбор работы с </a:t>
            </a:r>
            <a:r>
              <a:rPr lang="en-US" b="1" dirty="0"/>
              <a:t>git/</a:t>
            </a:r>
            <a:r>
              <a:rPr lang="en-US" b="1" dirty="0" err="1"/>
              <a:t>github</a:t>
            </a:r>
            <a:r>
              <a:rPr lang="en-US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63465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сдавать ДЗ?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Жесткий дедлайн – 2 недели с момента выдачи ДЗ – после 0 баллов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Непредвиденные обстоятельства обсуждаются отдельно</a:t>
            </a:r>
          </a:p>
        </p:txBody>
      </p:sp>
    </p:spTree>
    <p:extLst>
      <p:ext uri="{BB962C8B-B14F-4D97-AF65-F5344CB8AC3E}">
        <p14:creationId xmlns:p14="http://schemas.microsoft.com/office/powerpoint/2010/main" val="2517171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9A6-8925-1390-AB1F-7A1666F1C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702BAF-68FD-B9C6-2EE8-1DFA79AB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Коммуникация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0B3AB8-ED6E-1644-F8F0-E29514006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dirty="0"/>
              <a:t>Чат в </a:t>
            </a:r>
            <a:r>
              <a:rPr lang="en-US" dirty="0" err="1"/>
              <a:t>tg</a:t>
            </a:r>
            <a:r>
              <a:rPr lang="ru-RU" dirty="0"/>
              <a:t> для любых вопросов по курсу</a:t>
            </a:r>
          </a:p>
          <a:p>
            <a:r>
              <a:rPr lang="ru-RU" dirty="0"/>
              <a:t>Можно также писать в </a:t>
            </a:r>
            <a:r>
              <a:rPr lang="ru-RU" dirty="0" err="1"/>
              <a:t>личку</a:t>
            </a:r>
            <a:r>
              <a:rPr lang="ru-RU" dirty="0"/>
              <a:t>, если не хочется в чат</a:t>
            </a:r>
          </a:p>
        </p:txBody>
      </p:sp>
    </p:spTree>
    <p:extLst>
      <p:ext uri="{BB962C8B-B14F-4D97-AF65-F5344CB8AC3E}">
        <p14:creationId xmlns:p14="http://schemas.microsoft.com/office/powerpoint/2010/main" val="903621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Небольшая синхронизация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Напишите, пожалуйста, насколько хорошо вы знакомы с: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Classic ML</a:t>
            </a:r>
          </a:p>
          <a:p>
            <a:pPr lvl="1"/>
            <a:endParaRPr lang="en-US" dirty="0">
              <a:solidFill>
                <a:srgbClr val="1F2328"/>
              </a:solidFill>
              <a:latin typeface="-apple-system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0291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DCBAC-C624-3E6F-5041-AD5CC6EA0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673CA9-6F34-05FB-0590-9358C814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Небольшая синхронизация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56A852-C6F5-1DAC-C0D4-6B5CA236A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Напишите, пожалуйста, насколько хорошо вы знакомы с: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Classic ML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Deep Learning</a:t>
            </a:r>
          </a:p>
          <a:p>
            <a:pPr lvl="1"/>
            <a:endParaRPr lang="en-US" dirty="0">
              <a:solidFill>
                <a:srgbClr val="1F2328"/>
              </a:solidFill>
              <a:latin typeface="-apple-system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7548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Ожидания от курса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Я хочу чтобы на этом курсе было…</a:t>
            </a: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Я хочу чтобы на этом курсе НЕ было…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58879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424</Words>
  <Application>Microsoft Office PowerPoint</Application>
  <PresentationFormat>Широкоэкранный</PresentationFormat>
  <Paragraphs>73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-apple-system</vt:lpstr>
      <vt:lpstr>Arial</vt:lpstr>
      <vt:lpstr>Calibri</vt:lpstr>
      <vt:lpstr>Calibri Light</vt:lpstr>
      <vt:lpstr>Тема Office</vt:lpstr>
      <vt:lpstr>Основы глубокого обучения</vt:lpstr>
      <vt:lpstr>Примерный план курса</vt:lpstr>
      <vt:lpstr>Как закрыть курс?</vt:lpstr>
      <vt:lpstr>Как сдавать ДЗ?</vt:lpstr>
      <vt:lpstr>Пример открытия PR</vt:lpstr>
      <vt:lpstr>Когда сдавать ДЗ?</vt:lpstr>
      <vt:lpstr>Коммуникация</vt:lpstr>
      <vt:lpstr>Небольшая синхронизация</vt:lpstr>
      <vt:lpstr>Небольшая синхронизация</vt:lpstr>
      <vt:lpstr>Ожидания от курса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Типология задач машинного обучения</dc:title>
  <dc:creator>Кристина Желтова</dc:creator>
  <cp:lastModifiedBy>Кристина Желтова</cp:lastModifiedBy>
  <cp:revision>118</cp:revision>
  <dcterms:created xsi:type="dcterms:W3CDTF">2023-01-09T13:10:05Z</dcterms:created>
  <dcterms:modified xsi:type="dcterms:W3CDTF">2025-11-17T08:31:15Z</dcterms:modified>
</cp:coreProperties>
</file>