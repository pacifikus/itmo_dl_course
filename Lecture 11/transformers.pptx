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95" r:id="rId2"/>
    <p:sldId id="257" r:id="rId3"/>
    <p:sldId id="260" r:id="rId4"/>
    <p:sldId id="261" r:id="rId5"/>
    <p:sldId id="302" r:id="rId6"/>
    <p:sldId id="327" r:id="rId7"/>
    <p:sldId id="303" r:id="rId8"/>
    <p:sldId id="304" r:id="rId9"/>
    <p:sldId id="305" r:id="rId10"/>
    <p:sldId id="306" r:id="rId11"/>
    <p:sldId id="307" r:id="rId12"/>
    <p:sldId id="308" r:id="rId13"/>
    <p:sldId id="309" r:id="rId14"/>
    <p:sldId id="310" r:id="rId15"/>
    <p:sldId id="312" r:id="rId16"/>
    <p:sldId id="311" r:id="rId17"/>
    <p:sldId id="313" r:id="rId18"/>
    <p:sldId id="314" r:id="rId19"/>
    <p:sldId id="315" r:id="rId20"/>
    <p:sldId id="316" r:id="rId21"/>
    <p:sldId id="317" r:id="rId22"/>
    <p:sldId id="318" r:id="rId23"/>
    <p:sldId id="319" r:id="rId24"/>
    <p:sldId id="320" r:id="rId25"/>
    <p:sldId id="321" r:id="rId26"/>
    <p:sldId id="323" r:id="rId27"/>
    <p:sldId id="324" r:id="rId28"/>
    <p:sldId id="326" r:id="rId29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8892" autoAdjust="0"/>
    <p:restoredTop sz="94660"/>
  </p:normalViewPr>
  <p:slideViewPr>
    <p:cSldViewPr snapToGrid="0">
      <p:cViewPr varScale="1">
        <p:scale>
          <a:sx n="103" d="100"/>
          <a:sy n="103" d="100"/>
        </p:scale>
        <p:origin x="114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01E2074-33BD-4093-9B78-D53EB3D13198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2F0CB47-D796-44F2-AC78-677B9951EF6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8661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662BF4-7013-37B5-FD19-F4DAE97045F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0021FE3-3513-03B9-C662-AB5EC1EEE23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FE6CABC-B8CA-B52B-ED57-17E33C79C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C4D7B56-42C3-944B-2B44-068464B64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70CAAD1-7958-54AD-106B-55D761A1B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112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6EA9109-4F86-5089-E4A4-9C5A1EE598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9E796-96A8-13C0-BBE7-D49D15F6E55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5E5300D-17C3-5945-62F6-EE0F60DEE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EB236DB-D4C1-2470-AA9C-8A2FCD1E8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E95D05D-F6AC-02B0-7D2C-5105FD4410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47365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CE9211-E69C-44A4-3A92-564AD5FA8C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F002166-8723-CF11-E5F9-162DD0AB4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D965B37B-FA95-A1DB-530B-9569B485F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A61B0BA-FFCB-2512-0F68-B9C62CF5F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45B1D30A-0CD8-B10B-8EEC-D1A8010E2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706568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52870C8-D4C8-3FDF-3983-58E867CBC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BF3B98A-1EDD-2519-7538-F67415B6A4D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189F155-0609-D4EB-224B-3465C9B32D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331A7C43-9386-9124-FC5C-AFBC63240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2ADCCBED-3C66-47BD-32BC-8D431A8A5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4B49B0A-0E21-18F0-7AE4-B56DE0C44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697297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9876F5B-DEFE-FCD5-05AC-90B6E8FD8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1180F4A8-99FB-86ED-2007-00C8F2521A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CBA10C1-F33A-791E-BB18-8DE3E2BE252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6C7E054-D599-6BC3-28C8-02F1C86D07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5BF42B2C-E766-43A2-03B2-15D64B703F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553B19F9-77DF-4CC9-0C62-EC07A641F1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DBC16E5-03AA-86AD-5041-981629FEC8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C1401B5-52A7-EE97-E35C-0E18BB303D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101091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743338-A7E2-A262-74F5-40A49F53E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364E65E0-A9B4-C480-9F32-770119A74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89BB281-EB2D-1DA0-8F50-E632F08229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47AF4B57-6CC3-65F6-ABE1-3BAEF41E5C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3986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812FBC62-172E-3CC7-A284-380018A874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984A74E2-8C1D-81E4-8F63-3445D526D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33BDB03-EB88-223C-642F-D36CAA992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37859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3A9DAC5-05E6-AD7D-C60A-890C705BE0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53EBFB5-2635-CEB9-65B9-3FC6540CA7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0B46283-E988-3E58-91A3-1E18922ED5C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39DBBE8-D995-670C-1580-AE797FB05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C1CB45D-F698-F02E-BF25-9D6620075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F791D88-3919-2E21-B238-376F35DD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797984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AAAFDD0-727B-7362-61F2-5785625C4E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8DD6CDBE-AD22-ECAC-8A7C-A1CF2664A5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A11919CE-3BE3-4340-9FF9-B7FF701820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466DDA1B-268B-F7EB-0177-551E2A6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BB1CAD5-1BA4-06CC-3287-D3B71C608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85889E0-5D4E-A47D-FE63-E93BF0BD1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8486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29B6E84-E01E-A7BE-7F7C-B863C58140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0D1FCB32-2F1F-7783-3F95-5C039856BA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CE2B2B8C-B97D-AA5B-850F-B4ECB4C4C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B3AC2AA-9950-B8C9-8E59-A3E244C90D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F0F3A47-F3AC-F27C-B612-F56C86BC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604709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5047014-9CB3-E9DE-0A25-59C274642E2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7352AD17-96DA-7B1E-2570-A76E003198E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3460232-0317-9FCF-7BE1-C0443531EA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87B3EE93-9CA4-87E8-A0C9-7A3037E6B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DB52FD-709C-6CB3-8C1D-69E8D21B3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4331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AB08E86-9FC6-B231-EF30-FB6447C43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8424342-DF15-0D16-9A30-86ED6D0DE6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DAD6948-5AE3-EA8A-2304-7479C08D88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95C212-0096-4947-A1C7-4E4924B880DB}" type="datetimeFigureOut">
              <a:rPr lang="ru-RU" smtClean="0"/>
              <a:t>19.12.2025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5238215-4625-560F-439F-6D2C8DD710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68D13-4E06-146C-807B-B391347FA5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83BF09-1AFB-458E-B0BE-CC938734070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2110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630171" y="2534194"/>
            <a:ext cx="10931658" cy="1140136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b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-US" sz="4400" dirty="0"/>
              <a:t>Transformers Basics</a:t>
            </a:r>
            <a:endParaRPr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4671C76-D8DB-8AD0-859D-F9FA376FC1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</a:t>
            </a:r>
            <a:r>
              <a:rPr lang="en-US" dirty="0"/>
              <a:t>NLP</a:t>
            </a:r>
            <a:endParaRPr lang="ru-RU" dirty="0"/>
          </a:p>
        </p:txBody>
      </p:sp>
      <p:pic>
        <p:nvPicPr>
          <p:cNvPr id="1026" name="Picture 2" descr="Natural Language Processing">
            <a:extLst>
              <a:ext uri="{FF2B5EF4-FFF2-40B4-BE49-F238E27FC236}">
                <a16:creationId xmlns:a16="http://schemas.microsoft.com/office/drawing/2014/main" id="{CCDAC3A0-8497-2640-14B9-14B79271497D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31166" y="1825625"/>
            <a:ext cx="7729668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044796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7C4D-2A9A-FE7E-00C3-27B957B5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Language Modeling – </a:t>
            </a:r>
            <a:r>
              <a:rPr lang="ru-RU" sz="4000" dirty="0"/>
              <a:t>Языковое моделирование</a:t>
            </a:r>
          </a:p>
        </p:txBody>
      </p:sp>
      <p:pic>
        <p:nvPicPr>
          <p:cNvPr id="3076" name="Picture 4" descr="The basics of Language Modeling. Notes from CS224n lesson 6 and 7. | by  Antonio Lopardo | Medium">
            <a:extLst>
              <a:ext uri="{FF2B5EF4-FFF2-40B4-BE49-F238E27FC236}">
                <a16:creationId xmlns:a16="http://schemas.microsoft.com/office/drawing/2014/main" id="{F6199BD6-F049-D516-686D-E082BACE7854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5725" y="2198951"/>
            <a:ext cx="5911795" cy="1685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80" name="Picture 8" descr="Neural Language Models Explained – Ofir Press">
            <a:extLst>
              <a:ext uri="{FF2B5EF4-FFF2-40B4-BE49-F238E27FC236}">
                <a16:creationId xmlns:a16="http://schemas.microsoft.com/office/drawing/2014/main" id="{200442EE-8FEE-1D6E-B96C-0EF01D63C1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10300" y="4665209"/>
            <a:ext cx="5143500" cy="15335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6526595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99B7C4D-2A9A-FE7E-00C3-27B957B54D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Классический </a:t>
            </a:r>
            <a:r>
              <a:rPr lang="en-US" dirty="0"/>
              <a:t>ML vs </a:t>
            </a:r>
            <a:r>
              <a:rPr lang="ru-RU" dirty="0"/>
              <a:t>Трансформеры</a:t>
            </a:r>
            <a:r>
              <a:rPr lang="en-US" dirty="0"/>
              <a:t> </a:t>
            </a:r>
            <a:endParaRPr lang="ru-RU" dirty="0"/>
          </a:p>
        </p:txBody>
      </p:sp>
      <p:pic>
        <p:nvPicPr>
          <p:cNvPr id="4098" name="Picture 2" descr="Chapter 6 Introduction: Transfer Learning for NLP | Modern Approaches in Natural  Language Processing">
            <a:extLst>
              <a:ext uri="{FF2B5EF4-FFF2-40B4-BE49-F238E27FC236}">
                <a16:creationId xmlns:a16="http://schemas.microsoft.com/office/drawing/2014/main" id="{9D2D62A0-58AD-FF76-6160-6593317D54F1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0115" y="2275214"/>
            <a:ext cx="6111770" cy="34521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9265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8259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Трансформеры </a:t>
            </a:r>
            <a:r>
              <a:rPr lang="en-US" dirty="0"/>
              <a:t>– seq2seq </a:t>
            </a:r>
            <a:r>
              <a:rPr lang="ru-RU" dirty="0"/>
              <a:t>модель с архитектурой </a:t>
            </a:r>
            <a:r>
              <a:rPr lang="en-US" dirty="0"/>
              <a:t>Encoder-Decoder</a:t>
            </a:r>
            <a:endParaRPr lang="ru-RU" dirty="0"/>
          </a:p>
          <a:p>
            <a:pPr marL="0" indent="0">
              <a:buNone/>
            </a:pP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58B056AE-C3BF-023D-76CE-25E8C05DE9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6068" y="2762864"/>
            <a:ext cx="5726617" cy="384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752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646FE12-910E-E0BA-E38D-BF958D932E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Классический </a:t>
            </a:r>
            <a:r>
              <a:rPr lang="en-US" dirty="0"/>
              <a:t>Encoder-Decoder</a:t>
            </a:r>
            <a:endParaRPr lang="ru-RU" dirty="0"/>
          </a:p>
        </p:txBody>
      </p:sp>
      <p:pic>
        <p:nvPicPr>
          <p:cNvPr id="4" name="Объект 9">
            <a:extLst>
              <a:ext uri="{FF2B5EF4-FFF2-40B4-BE49-F238E27FC236}">
                <a16:creationId xmlns:a16="http://schemas.microsoft.com/office/drawing/2014/main" id="{30598D45-BB39-47CC-58DF-048A491AF86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690337" y="2210344"/>
            <a:ext cx="6811326" cy="3581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14408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</a:t>
            </a:r>
            <a:r>
              <a:rPr lang="ru-RU" dirty="0"/>
              <a:t>внутри </a:t>
            </a:r>
            <a:r>
              <a:rPr lang="en-US" dirty="0"/>
              <a:t>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385650" cy="4089085"/>
          </a:xfrm>
        </p:spPr>
        <p:txBody>
          <a:bodyPr>
            <a:normAutofit/>
          </a:bodyPr>
          <a:lstStyle/>
          <a:p>
            <a:r>
              <a:rPr lang="en-US" dirty="0"/>
              <a:t>Encoder </a:t>
            </a:r>
            <a:r>
              <a:rPr lang="ru-RU" dirty="0"/>
              <a:t>состоит из нескольких слоев, каждый из которых является </a:t>
            </a:r>
            <a:r>
              <a:rPr lang="en-US" dirty="0"/>
              <a:t>encoder’</a:t>
            </a:r>
            <a:r>
              <a:rPr lang="ru-RU" dirty="0"/>
              <a:t>ом.</a:t>
            </a:r>
          </a:p>
          <a:p>
            <a:r>
              <a:rPr lang="en-US" dirty="0"/>
              <a:t>Decoder </a:t>
            </a:r>
            <a:r>
              <a:rPr lang="ru-RU" dirty="0"/>
              <a:t>также состоит из нескольких слоев, и на каждый слой </a:t>
            </a:r>
            <a:r>
              <a:rPr lang="en-US" dirty="0"/>
              <a:t>Decoder’</a:t>
            </a:r>
            <a:r>
              <a:rPr lang="ru-RU" dirty="0"/>
              <a:t>а подается одно и то же состояние </a:t>
            </a:r>
            <a:r>
              <a:rPr lang="en-US" dirty="0"/>
              <a:t>Encoder’</a:t>
            </a:r>
            <a:r>
              <a:rPr lang="ru-RU" dirty="0"/>
              <a:t>а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4F865807-A3B6-EB95-7782-0F887A4C9E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03188" y="1690688"/>
            <a:ext cx="6098346" cy="4224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66243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</a:t>
            </a:r>
            <a:r>
              <a:rPr lang="ru-RU" dirty="0"/>
              <a:t>внутри </a:t>
            </a:r>
            <a:r>
              <a:rPr lang="en-US" dirty="0"/>
              <a:t>Encoder-Decoder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AB17BAD-8B47-CE9E-5428-08E8B2110C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385650" cy="4089085"/>
          </a:xfrm>
        </p:spPr>
        <p:txBody>
          <a:bodyPr>
            <a:normAutofit/>
          </a:bodyPr>
          <a:lstStyle/>
          <a:p>
            <a:r>
              <a:rPr lang="ru-RU" dirty="0"/>
              <a:t>Все </a:t>
            </a:r>
            <a:r>
              <a:rPr lang="en-US" dirty="0"/>
              <a:t>Encoder’</a:t>
            </a:r>
            <a:r>
              <a:rPr lang="ru-RU" dirty="0"/>
              <a:t>ы состоят из двух частей – механизма </a:t>
            </a:r>
            <a:r>
              <a:rPr lang="en-US" dirty="0"/>
              <a:t>Self-Attention </a:t>
            </a:r>
            <a:r>
              <a:rPr lang="ru-RU" dirty="0"/>
              <a:t>и </a:t>
            </a:r>
            <a:r>
              <a:rPr lang="ru-RU" dirty="0" err="1"/>
              <a:t>полносвязного</a:t>
            </a:r>
            <a:r>
              <a:rPr lang="ru-RU" dirty="0"/>
              <a:t> слоя </a:t>
            </a:r>
            <a:r>
              <a:rPr lang="en-US" dirty="0"/>
              <a:t>(FFNN)</a:t>
            </a:r>
          </a:p>
          <a:p>
            <a:endParaRPr lang="en-US" dirty="0"/>
          </a:p>
          <a:p>
            <a:r>
              <a:rPr lang="en-US" dirty="0"/>
              <a:t>Decoder’</a:t>
            </a:r>
            <a:r>
              <a:rPr lang="ru-RU" dirty="0"/>
              <a:t>ы имеют еще одну часть – </a:t>
            </a:r>
            <a:r>
              <a:rPr lang="en-US" dirty="0"/>
              <a:t>Encoder-Decoder Attention</a:t>
            </a:r>
          </a:p>
          <a:p>
            <a:endParaRPr lang="en-US" dirty="0"/>
          </a:p>
          <a:p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FC1CA2F-768F-2C83-07C2-8C8220F809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5646" y="1690688"/>
            <a:ext cx="5262091" cy="2272419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63E2977-44C1-21BB-D175-BE639C04BA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9778" y="4386695"/>
            <a:ext cx="5867651" cy="180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141575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</a:t>
            </a:r>
            <a:r>
              <a:rPr lang="ru-RU" dirty="0"/>
              <a:t>внутри </a:t>
            </a:r>
            <a:r>
              <a:rPr lang="en-US" dirty="0"/>
              <a:t>Encoder-Decoder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12E3DFF-3058-8A8F-469F-94DC7A167E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1852" y="1997640"/>
            <a:ext cx="6228296" cy="3751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7608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75360" cy="4089085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По мере обработки каждого слова, </a:t>
            </a:r>
            <a:r>
              <a:rPr lang="en-US" dirty="0"/>
              <a:t>self-attention </a:t>
            </a:r>
            <a:r>
              <a:rPr lang="ru-RU" dirty="0"/>
              <a:t>позволяет модели искать в других позициях входной последовательности «подсказки», которые могут улучшить кодирование этого слова.</a:t>
            </a:r>
          </a:p>
          <a:p>
            <a:r>
              <a:rPr lang="ru-RU" dirty="0"/>
              <a:t>Фактически </a:t>
            </a:r>
            <a:r>
              <a:rPr lang="en-US" dirty="0"/>
              <a:t>Self-Attention – </a:t>
            </a:r>
            <a:r>
              <a:rPr lang="ru-RU" dirty="0"/>
              <a:t>способ встроить «понимание» других релевантных слов в то, которое обрабатывается на текущий момент.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0D4060E0-381E-8EC9-2EB2-9C17FE8D1F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8150" y="1690688"/>
            <a:ext cx="4020111" cy="39724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10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569823" cy="1450976"/>
          </a:xfrm>
        </p:spPr>
        <p:txBody>
          <a:bodyPr>
            <a:normAutofit fontScale="77500" lnSpcReduction="20000"/>
          </a:bodyPr>
          <a:lstStyle/>
          <a:p>
            <a:r>
              <a:rPr lang="ru-RU" dirty="0"/>
              <a:t>Первый шаг – создание векторов </a:t>
            </a:r>
            <a:r>
              <a:rPr lang="en-US" dirty="0"/>
              <a:t>q</a:t>
            </a:r>
            <a:r>
              <a:rPr lang="ru-RU" dirty="0"/>
              <a:t>, </a:t>
            </a:r>
            <a:r>
              <a:rPr lang="en-US" dirty="0"/>
              <a:t>k, v </a:t>
            </a:r>
            <a:r>
              <a:rPr lang="ru-RU" dirty="0"/>
              <a:t>путем умножения входного </a:t>
            </a:r>
            <a:r>
              <a:rPr lang="ru-RU" dirty="0" err="1"/>
              <a:t>эмбеддинга</a:t>
            </a:r>
            <a:r>
              <a:rPr lang="ru-RU" dirty="0"/>
              <a:t> на три матрицы, которые мы обучали в процессе.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91F2D34D-648A-6672-3A63-8C3A47216A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58712" y="1825624"/>
            <a:ext cx="6283564" cy="3785279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93D117F-E10C-450C-2F56-EA0193D7F8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9404" y="3006500"/>
            <a:ext cx="2309088" cy="3342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843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515599" cy="537330"/>
          </a:xfrm>
        </p:spPr>
        <p:txBody>
          <a:bodyPr>
            <a:normAutofit fontScale="85000" lnSpcReduction="10000"/>
          </a:bodyPr>
          <a:lstStyle/>
          <a:p>
            <a:r>
              <a:rPr lang="ru-RU" dirty="0"/>
              <a:t>В итоге получаем матрицы запросов (</a:t>
            </a:r>
            <a:r>
              <a:rPr lang="en-US" dirty="0"/>
              <a:t>query), </a:t>
            </a:r>
            <a:r>
              <a:rPr lang="ru-RU" dirty="0"/>
              <a:t>ключей (</a:t>
            </a:r>
            <a:r>
              <a:rPr lang="en-US" dirty="0"/>
              <a:t>keys), </a:t>
            </a:r>
            <a:r>
              <a:rPr lang="ru-RU" dirty="0"/>
              <a:t>значений (</a:t>
            </a:r>
            <a:r>
              <a:rPr lang="en-US" dirty="0"/>
              <a:t>values)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22D1F6D-6276-A405-4E8F-4EAD66263A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2997" y="2497892"/>
            <a:ext cx="3810805" cy="39826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81725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75360" cy="408908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ru-RU" dirty="0"/>
              <a:t>Дальнейшие шаги:</a:t>
            </a:r>
          </a:p>
          <a:p>
            <a:r>
              <a:rPr lang="ru-RU" dirty="0"/>
              <a:t>Умножаем вектор </a:t>
            </a:r>
            <a:r>
              <a:rPr lang="en-US" b="1" dirty="0"/>
              <a:t>q</a:t>
            </a:r>
            <a:r>
              <a:rPr lang="en-US" dirty="0"/>
              <a:t> </a:t>
            </a:r>
            <a:r>
              <a:rPr lang="ru-RU" dirty="0"/>
              <a:t>на вектора </a:t>
            </a:r>
            <a:r>
              <a:rPr lang="en-US" b="1" dirty="0"/>
              <a:t>k</a:t>
            </a:r>
            <a:r>
              <a:rPr lang="ru-RU" dirty="0"/>
              <a:t> получая оценки того, сколько внимания нужно уделять другим частям входного предложения, когда мы кодируем слово в определенной позиции.</a:t>
            </a:r>
          </a:p>
          <a:p>
            <a:r>
              <a:rPr lang="ru-RU" dirty="0"/>
              <a:t>Делим полученные оценки на 8 (квадратный корень из размерности вектора)</a:t>
            </a:r>
          </a:p>
          <a:p>
            <a:r>
              <a:rPr lang="ru-RU" dirty="0"/>
              <a:t>Применяем </a:t>
            </a:r>
            <a:r>
              <a:rPr lang="en-US" dirty="0" err="1"/>
              <a:t>Softmax</a:t>
            </a:r>
            <a:endParaRPr lang="ru-RU" dirty="0"/>
          </a:p>
          <a:p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6A44653-4963-9DCA-2EFD-2F8ED8BCFC2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3247" y="1825624"/>
            <a:ext cx="5550160" cy="3953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35515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675360" cy="408908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Затем:</a:t>
            </a:r>
          </a:p>
          <a:p>
            <a:r>
              <a:rPr lang="ru-RU" dirty="0"/>
              <a:t>Умножаем полученные значения на вектора </a:t>
            </a:r>
            <a:r>
              <a:rPr lang="en-US" b="1" dirty="0"/>
              <a:t>v</a:t>
            </a:r>
            <a:endParaRPr lang="ru-RU" b="1" dirty="0"/>
          </a:p>
          <a:p>
            <a:r>
              <a:rPr lang="ru-RU" dirty="0"/>
              <a:t>Складываем все вместе, получая выходной вектор</a:t>
            </a:r>
          </a:p>
          <a:p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C608C989-F40F-FBEB-CA0F-4A95FFA59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259" y="1486797"/>
            <a:ext cx="5292561" cy="516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64044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Self-Attention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6572" cy="54638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 матричной форме это выглядит как: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98A5B43-81A4-A1E4-0BE6-49E1269C7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39002" y="2955024"/>
            <a:ext cx="6458851" cy="3229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20020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Multi-Head 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976572" cy="546384"/>
          </a:xfrm>
        </p:spPr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В </a:t>
            </a:r>
            <a:r>
              <a:rPr lang="en-US" dirty="0"/>
              <a:t>Multi-Head Attention </a:t>
            </a:r>
            <a:r>
              <a:rPr lang="ru-RU" dirty="0"/>
              <a:t>мы поддерживаем отдельные весовые матрицы Q/K/V для каждой головы (</a:t>
            </a:r>
            <a:r>
              <a:rPr lang="en-US" dirty="0"/>
              <a:t>head)</a:t>
            </a:r>
            <a:r>
              <a:rPr lang="ru-RU" dirty="0"/>
              <a:t>, что приводит к различным матрицам Q/K/V. 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6B7B9F2C-D09D-7D63-025F-679692CB53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2027" y="2924364"/>
            <a:ext cx="4674003" cy="3079213"/>
          </a:xfrm>
          <a:prstGeom prst="rect">
            <a:avLst/>
          </a:prstGeom>
        </p:spPr>
      </p:pic>
      <p:pic>
        <p:nvPicPr>
          <p:cNvPr id="11" name="Рисунок 10">
            <a:extLst>
              <a:ext uri="{FF2B5EF4-FFF2-40B4-BE49-F238E27FC236}">
                <a16:creationId xmlns:a16="http://schemas.microsoft.com/office/drawing/2014/main" id="{DD957ED2-1228-5C4D-A0F2-6320BDA18BE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5970" y="3007814"/>
            <a:ext cx="5295538" cy="28777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03937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Multi-Head 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4068778" cy="382373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После вычисления векторов в </a:t>
            </a:r>
            <a:r>
              <a:rPr lang="en-US" dirty="0"/>
              <a:t>Multi-Head Attention</a:t>
            </a:r>
            <a:r>
              <a:rPr lang="ru-RU" dirty="0"/>
              <a:t> они конкатенируются, умножаются на матрицу весов </a:t>
            </a:r>
            <a:r>
              <a:rPr lang="en-US" dirty="0"/>
              <a:t>W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2A7D9ED-7216-8B54-6D7F-F17CB2C296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89423" y="1892419"/>
            <a:ext cx="6802577" cy="36901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39124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Multi-Head Attention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0695916" cy="48300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Соберем все вместе: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1DD4903F-1985-31BD-EB9C-97BDEFA583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9639" y="2661934"/>
            <a:ext cx="6577522" cy="37748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70027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Positional Encoding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4865484" cy="4394107"/>
          </a:xfrm>
        </p:spPr>
        <p:txBody>
          <a:bodyPr>
            <a:normAutofit/>
          </a:bodyPr>
          <a:lstStyle/>
          <a:p>
            <a:r>
              <a:rPr lang="ru-RU" dirty="0"/>
              <a:t>Сейчас в описанном механизме не учитывается порядок слов.</a:t>
            </a:r>
          </a:p>
          <a:p>
            <a:r>
              <a:rPr lang="ru-RU" dirty="0"/>
              <a:t>Чтобы решить эту проблему, к основному </a:t>
            </a:r>
            <a:r>
              <a:rPr lang="ru-RU" dirty="0" err="1"/>
              <a:t>эмбеддингу</a:t>
            </a:r>
            <a:r>
              <a:rPr lang="ru-RU" dirty="0"/>
              <a:t> добавляется </a:t>
            </a:r>
            <a:r>
              <a:rPr lang="en-US" dirty="0"/>
              <a:t>positional </a:t>
            </a:r>
            <a:r>
              <a:rPr lang="ru-RU" dirty="0" err="1"/>
              <a:t>эмбеддинг</a:t>
            </a:r>
            <a:r>
              <a:rPr lang="ru-RU" dirty="0"/>
              <a:t>.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F51D33C3-37CC-F44D-3269-3A305E906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75915" y="1690688"/>
            <a:ext cx="6076328" cy="34927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1668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Positional Encoding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10723076" cy="881362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ru-RU" dirty="0"/>
              <a:t>Интуиция здесь такова, что добавление векторов к </a:t>
            </a:r>
            <a:r>
              <a:rPr lang="ru-RU" dirty="0" err="1"/>
              <a:t>эмбеддингам</a:t>
            </a:r>
            <a:r>
              <a:rPr lang="ru-RU" dirty="0"/>
              <a:t> обеспечивает значимые расстояния между векторами </a:t>
            </a:r>
            <a:r>
              <a:rPr lang="ru-RU" dirty="0" err="1"/>
              <a:t>эмбеддингов</a:t>
            </a:r>
            <a:r>
              <a:rPr lang="ru-RU" dirty="0"/>
              <a:t> после их проецирования в векторы Q/K/V и во время скалярного произведения в </a:t>
            </a:r>
            <a:r>
              <a:rPr lang="en-US" dirty="0"/>
              <a:t>Attention</a:t>
            </a:r>
            <a:r>
              <a:rPr lang="ru-RU" dirty="0"/>
              <a:t>.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ABA77245-8543-264A-7710-B93996D2B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025" y="3276600"/>
            <a:ext cx="8954750" cy="26102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325108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Residuals &amp; Normalization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18B70C-518E-DC1F-3D69-03A3840902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5"/>
            <a:ext cx="4086886" cy="41134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Каждый подуровень (</a:t>
            </a:r>
            <a:r>
              <a:rPr lang="en-US" dirty="0"/>
              <a:t>self-attention</a:t>
            </a:r>
            <a:r>
              <a:rPr lang="ru-RU" dirty="0"/>
              <a:t>, </a:t>
            </a:r>
            <a:r>
              <a:rPr lang="ru-RU" dirty="0" err="1"/>
              <a:t>ffnn</a:t>
            </a:r>
            <a:r>
              <a:rPr lang="ru-RU" dirty="0"/>
              <a:t>) в каждом </a:t>
            </a:r>
            <a:r>
              <a:rPr lang="en-US" dirty="0"/>
              <a:t>Encoder’</a:t>
            </a:r>
            <a:r>
              <a:rPr lang="ru-RU" dirty="0"/>
              <a:t>е имеет </a:t>
            </a:r>
            <a:r>
              <a:rPr lang="en-US" dirty="0"/>
              <a:t>residual-</a:t>
            </a:r>
            <a:r>
              <a:rPr lang="ru-RU" dirty="0"/>
              <a:t>соединение, и за ним следует шаг нормализации.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311D9189-B816-241E-42E5-C07227199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486" y="1486713"/>
            <a:ext cx="5795904" cy="4189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8101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Residuals &amp; Normalization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2FEBCC7D-8AC9-2B66-1B30-BE62F257A0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594" y="1792586"/>
            <a:ext cx="7472812" cy="4375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914859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Decoder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0EE47283-2A84-E3E8-D7BA-16605775C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57466" y="1690689"/>
            <a:ext cx="6092798" cy="3442626"/>
          </a:xfrm>
          <a:prstGeom prst="rect">
            <a:avLst/>
          </a:prstGeom>
        </p:spPr>
      </p:pic>
      <p:sp>
        <p:nvSpPr>
          <p:cNvPr id="6" name="Объект 2">
            <a:extLst>
              <a:ext uri="{FF2B5EF4-FFF2-40B4-BE49-F238E27FC236}">
                <a16:creationId xmlns:a16="http://schemas.microsoft.com/office/drawing/2014/main" id="{B7C2B982-0673-13F8-92AA-0C6E2FE253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4385651" cy="411344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u-RU" dirty="0"/>
              <a:t>Вектора K и V используются </a:t>
            </a:r>
            <a:r>
              <a:rPr lang="en-US" dirty="0"/>
              <a:t>Decoder’</a:t>
            </a:r>
            <a:r>
              <a:rPr lang="ru-RU" dirty="0" err="1"/>
              <a:t>ами</a:t>
            </a:r>
            <a:r>
              <a:rPr lang="ru-RU" dirty="0"/>
              <a:t> в </a:t>
            </a:r>
            <a:r>
              <a:rPr lang="en-US" dirty="0"/>
              <a:t>Encoder-Decoder Attention </a:t>
            </a:r>
            <a:r>
              <a:rPr lang="ru-RU" dirty="0"/>
              <a:t>слоях, которые помогаю </a:t>
            </a:r>
            <a:r>
              <a:rPr lang="en-US" dirty="0"/>
              <a:t>Decoder’</a:t>
            </a:r>
            <a:r>
              <a:rPr lang="ru-RU" dirty="0"/>
              <a:t>у сосредоточиться на соответствующих местах входной последовательности</a:t>
            </a:r>
          </a:p>
        </p:txBody>
      </p:sp>
    </p:spTree>
    <p:extLst>
      <p:ext uri="{BB962C8B-B14F-4D97-AF65-F5344CB8AC3E}">
        <p14:creationId xmlns:p14="http://schemas.microsoft.com/office/powerpoint/2010/main" val="192986161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Трансформеры</a:t>
            </a:r>
            <a:r>
              <a:rPr lang="en-US" dirty="0"/>
              <a:t> – Linear &amp; </a:t>
            </a:r>
            <a:r>
              <a:rPr lang="en-US" dirty="0" err="1"/>
              <a:t>Softmax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334B15D-F07F-8896-5754-D706C603B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7459" y="1870892"/>
            <a:ext cx="5952282" cy="3883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76642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23793B-0596-A14A-DD7D-5E3D917E0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4385651" cy="4113448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/>
              <a:t>BERT</a:t>
            </a:r>
            <a:r>
              <a:rPr lang="en-US" dirty="0"/>
              <a:t> - Bidirectional Encoder Representations from Transformers</a:t>
            </a:r>
            <a:endParaRPr lang="ru-RU" dirty="0"/>
          </a:p>
          <a:p>
            <a:r>
              <a:rPr lang="ru-RU" dirty="0"/>
              <a:t>Идея – учить трансформер как </a:t>
            </a:r>
            <a:r>
              <a:rPr lang="en-US" b="1" dirty="0"/>
              <a:t>Masked Language Model</a:t>
            </a:r>
            <a:r>
              <a:rPr lang="en-US" dirty="0"/>
              <a:t> </a:t>
            </a:r>
            <a:r>
              <a:rPr lang="ru-RU" dirty="0"/>
              <a:t>для предсказания слова в контексте, а также на задаче </a:t>
            </a:r>
            <a:r>
              <a:rPr lang="en-US" b="1" dirty="0"/>
              <a:t>Next Sentence Prediction</a:t>
            </a:r>
            <a:r>
              <a:rPr lang="en-US" dirty="0"/>
              <a:t>.</a:t>
            </a:r>
          </a:p>
          <a:p>
            <a:r>
              <a:rPr lang="ru-RU" dirty="0"/>
              <a:t>Можно </a:t>
            </a:r>
            <a:r>
              <a:rPr lang="ru-RU" dirty="0" err="1"/>
              <a:t>дообучить</a:t>
            </a:r>
            <a:r>
              <a:rPr lang="ru-RU" dirty="0"/>
              <a:t> для более специфичных задач</a:t>
            </a:r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C60115-CE5E-D030-5B69-6B695D3FF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2052" name="Picture 4" descr="BERT (языковая модель) — Викиконспекты">
            <a:extLst>
              <a:ext uri="{FF2B5EF4-FFF2-40B4-BE49-F238E27FC236}">
                <a16:creationId xmlns:a16="http://schemas.microsoft.com/office/drawing/2014/main" id="{BEB591E5-EA67-1DF6-3255-9D4264A28FC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880" y="1690688"/>
            <a:ext cx="4635473" cy="40129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817251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  <a:r>
              <a:rPr lang="ru-RU" dirty="0"/>
              <a:t> – представление данных на входе</a:t>
            </a:r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C60115-CE5E-D030-5B69-6B695D3FF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FCF69DE9-C7D1-7978-CC17-E3CE41DDD27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8691" y="2240608"/>
            <a:ext cx="9194618" cy="2838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60844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BERT</a:t>
            </a:r>
            <a:r>
              <a:rPr lang="ru-RU" dirty="0"/>
              <a:t> – </a:t>
            </a:r>
            <a:r>
              <a:rPr lang="ru-RU" dirty="0" err="1"/>
              <a:t>дообучение</a:t>
            </a:r>
            <a:r>
              <a:rPr lang="ru-RU" dirty="0"/>
              <a:t> </a:t>
            </a:r>
            <a:r>
              <a:rPr lang="en-US" dirty="0"/>
              <a:t>(finetuning)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C60115-CE5E-D030-5B69-6B695D3FF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831971E0-8B5E-DFD6-5C4C-ABD449DE4D0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735" y="1928388"/>
            <a:ext cx="4467745" cy="38158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>
            <a:extLst>
              <a:ext uri="{FF2B5EF4-FFF2-40B4-BE49-F238E27FC236}">
                <a16:creationId xmlns:a16="http://schemas.microsoft.com/office/drawing/2014/main" id="{9703E2AC-A4A0-42E8-F1D9-9DEF90834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7920" y="2126351"/>
            <a:ext cx="4090657" cy="3617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918446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390291F-E119-3FF8-FA6A-EC94746DA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GPT</a:t>
            </a:r>
            <a:r>
              <a:rPr lang="ru-RU" dirty="0"/>
              <a:t> - </a:t>
            </a:r>
            <a:r>
              <a:rPr lang="en-US" dirty="0"/>
              <a:t>Generative Pre-trained Transformer</a:t>
            </a:r>
            <a:endParaRPr lang="ru-RU" dirty="0"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BB1DEE0-3B2D-A523-4653-72AE52D42B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823793B-0596-A14A-DD7D-5E3D917E0B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8" y="1825625"/>
            <a:ext cx="9998800" cy="347207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ru-RU" dirty="0"/>
              <a:t>Если </a:t>
            </a:r>
            <a:r>
              <a:rPr lang="en-US" dirty="0"/>
              <a:t>BERT – Encoder, </a:t>
            </a:r>
            <a:r>
              <a:rPr lang="ru-RU" dirty="0"/>
              <a:t>то </a:t>
            </a:r>
            <a:r>
              <a:rPr lang="en-US" dirty="0"/>
              <a:t>GPT – Decoder</a:t>
            </a:r>
          </a:p>
          <a:p>
            <a:pPr marL="0" indent="0">
              <a:buNone/>
            </a:pPr>
            <a:endParaRPr lang="ru-RU" dirty="0"/>
          </a:p>
        </p:txBody>
      </p:sp>
      <p:sp>
        <p:nvSpPr>
          <p:cNvPr id="5" name="AutoShape 2">
            <a:extLst>
              <a:ext uri="{FF2B5EF4-FFF2-40B4-BE49-F238E27FC236}">
                <a16:creationId xmlns:a16="http://schemas.microsoft.com/office/drawing/2014/main" id="{BCC60115-CE5E-D030-5B69-6B695D3FF84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4098" name="Picture 2" descr="Generalized Language Models | Lil'Log">
            <a:extLst>
              <a:ext uri="{FF2B5EF4-FFF2-40B4-BE49-F238E27FC236}">
                <a16:creationId xmlns:a16="http://schemas.microsoft.com/office/drawing/2014/main" id="{035D875F-1A80-7FF9-7AC7-53E7C89417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0167" y="2505478"/>
            <a:ext cx="5878980" cy="38480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20173298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</TotalTime>
  <Words>512</Words>
  <Application>Microsoft Office PowerPoint</Application>
  <PresentationFormat>Широкоэкранный</PresentationFormat>
  <Paragraphs>58</Paragraphs>
  <Slides>28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28</vt:i4>
      </vt:variant>
    </vt:vector>
  </HeadingPairs>
  <TitlesOfParts>
    <vt:vector size="32" baseType="lpstr">
      <vt:lpstr>Arial</vt:lpstr>
      <vt:lpstr>Calibri</vt:lpstr>
      <vt:lpstr>Calibri Light</vt:lpstr>
      <vt:lpstr>Тема Office</vt:lpstr>
      <vt:lpstr>Transformers Basics</vt:lpstr>
      <vt:lpstr>Эволюция NLP</vt:lpstr>
      <vt:lpstr>Language Modeling – Языковое моделирование</vt:lpstr>
      <vt:lpstr>Классический ML vs Трансформеры </vt:lpstr>
      <vt:lpstr>Трансформеры – Encoder-Decoder</vt:lpstr>
      <vt:lpstr>Классический Encoder-Decoder</vt:lpstr>
      <vt:lpstr>Трансформеры – внутри Encoder-Decoder</vt:lpstr>
      <vt:lpstr>Трансформеры – внутри Encoder-Decoder</vt:lpstr>
      <vt:lpstr>Трансформеры – внутри Encoder-Decoder</vt:lpstr>
      <vt:lpstr>Трансформеры – Self-Attention</vt:lpstr>
      <vt:lpstr>Трансформеры – Self-Attention</vt:lpstr>
      <vt:lpstr>Трансформеры – Self-Attention</vt:lpstr>
      <vt:lpstr>Трансформеры – Self-Attention</vt:lpstr>
      <vt:lpstr>Трансформеры – Self-Attention</vt:lpstr>
      <vt:lpstr>Трансформеры – Self-Attention</vt:lpstr>
      <vt:lpstr>Трансформеры – Multi-Head Attention</vt:lpstr>
      <vt:lpstr>Трансформеры – Multi-Head Attention</vt:lpstr>
      <vt:lpstr>Трансформеры – Multi-Head Attention</vt:lpstr>
      <vt:lpstr>Трансформеры – Positional Encoding</vt:lpstr>
      <vt:lpstr>Трансформеры – Positional Encoding</vt:lpstr>
      <vt:lpstr>Трансформеры – Residuals &amp; Normalization</vt:lpstr>
      <vt:lpstr>Трансформеры – Residuals &amp; Normalization</vt:lpstr>
      <vt:lpstr>Трансформеры – Decoder</vt:lpstr>
      <vt:lpstr>Трансформеры – Linear &amp; Softmax</vt:lpstr>
      <vt:lpstr>BERT</vt:lpstr>
      <vt:lpstr>BERT – представление данных на входе</vt:lpstr>
      <vt:lpstr>BERT – дообучение (finetuning)</vt:lpstr>
      <vt:lpstr>GPT - Generative Pre-trained Transformer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Кристина Желтова</dc:creator>
  <cp:lastModifiedBy>Кристина Желтова</cp:lastModifiedBy>
  <cp:revision>41</cp:revision>
  <dcterms:created xsi:type="dcterms:W3CDTF">2023-12-06T20:15:28Z</dcterms:created>
  <dcterms:modified xsi:type="dcterms:W3CDTF">2025-12-19T15:36:01Z</dcterms:modified>
</cp:coreProperties>
</file>